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64" r:id="rId2"/>
    <p:sldId id="257" r:id="rId3"/>
    <p:sldId id="258" r:id="rId4"/>
    <p:sldId id="259" r:id="rId5"/>
    <p:sldId id="274" r:id="rId6"/>
    <p:sldId id="260" r:id="rId7"/>
    <p:sldId id="265" r:id="rId8"/>
    <p:sldId id="266" r:id="rId9"/>
    <p:sldId id="267" r:id="rId10"/>
    <p:sldId id="268" r:id="rId11"/>
    <p:sldId id="271" r:id="rId12"/>
    <p:sldId id="272" r:id="rId13"/>
    <p:sldId id="269" r:id="rId14"/>
    <p:sldId id="262" r:id="rId15"/>
    <p:sldId id="273" r:id="rId16"/>
    <p:sldId id="263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4B3399-2C98-4E4E-926E-1E94A070E448}" v="5" dt="2026-09-03T09:03:48.9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haharshini HDN" userId="05da48dd72767731" providerId="LiveId" clId="{3D3B9BD5-FC15-4035-9A30-29EDFE59303E}"/>
    <pc:docChg chg="undo custSel addSld delSld modSld sldOrd">
      <pc:chgData name="Prahaharshini HDN" userId="05da48dd72767731" providerId="LiveId" clId="{3D3B9BD5-FC15-4035-9A30-29EDFE59303E}" dt="2026-09-03T09:04:36.878" v="141" actId="2711"/>
      <pc:docMkLst>
        <pc:docMk/>
      </pc:docMkLst>
      <pc:sldChg chg="addSp delSp modSp mod">
        <pc:chgData name="Prahaharshini HDN" userId="05da48dd72767731" providerId="LiveId" clId="{3D3B9BD5-FC15-4035-9A30-29EDFE59303E}" dt="2026-09-03T08:31:12.870" v="12" actId="1076"/>
        <pc:sldMkLst>
          <pc:docMk/>
          <pc:sldMk cId="0" sldId="260"/>
        </pc:sldMkLst>
        <pc:spChg chg="mod">
          <ac:chgData name="Prahaharshini HDN" userId="05da48dd72767731" providerId="LiveId" clId="{3D3B9BD5-FC15-4035-9A30-29EDFE59303E}" dt="2026-09-03T08:31:12.870" v="12" actId="1076"/>
          <ac:spMkLst>
            <pc:docMk/>
            <pc:sldMk cId="0" sldId="260"/>
            <ac:spMk id="2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42.458" v="1" actId="478"/>
          <ac:spMkLst>
            <pc:docMk/>
            <pc:sldMk cId="0" sldId="260"/>
            <ac:spMk id="3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4" creationId="{00000000-0000-0000-0000-000000000000}"/>
          </ac:spMkLst>
        </pc:spChg>
        <pc:spChg chg="mod">
          <ac:chgData name="Prahaharshini HDN" userId="05da48dd72767731" providerId="LiveId" clId="{3D3B9BD5-FC15-4035-9A30-29EDFE59303E}" dt="2026-09-03T08:30:45.861" v="3" actId="20577"/>
          <ac:spMkLst>
            <pc:docMk/>
            <pc:sldMk cId="0" sldId="260"/>
            <ac:spMk id="6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7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9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3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4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7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8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19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47.976" v="4" actId="478"/>
          <ac:spMkLst>
            <pc:docMk/>
            <pc:sldMk cId="0" sldId="260"/>
            <ac:spMk id="23" creationId="{00000000-0000-0000-0000-000000000000}"/>
          </ac:spMkLst>
        </pc:spChg>
        <pc:spChg chg="del">
          <ac:chgData name="Prahaharshini HDN" userId="05da48dd72767731" providerId="LiveId" clId="{3D3B9BD5-FC15-4035-9A30-29EDFE59303E}" dt="2026-09-03T08:30:39.868" v="0" actId="478"/>
          <ac:spMkLst>
            <pc:docMk/>
            <pc:sldMk cId="0" sldId="260"/>
            <ac:spMk id="24" creationId="{00000000-0000-0000-0000-000000000000}"/>
          </ac:spMkLst>
        </pc:spChg>
        <pc:spChg chg="mod">
          <ac:chgData name="Prahaharshini HDN" userId="05da48dd72767731" providerId="LiveId" clId="{3D3B9BD5-FC15-4035-9A30-29EDFE59303E}" dt="2026-09-03T08:30:51.246" v="6" actId="20577"/>
          <ac:spMkLst>
            <pc:docMk/>
            <pc:sldMk cId="0" sldId="260"/>
            <ac:spMk id="26" creationId="{00000000-0000-0000-0000-000000000000}"/>
          </ac:spMkLst>
        </pc:spChg>
        <pc:picChg chg="add mod">
          <ac:chgData name="Prahaharshini HDN" userId="05da48dd72767731" providerId="LiveId" clId="{3D3B9BD5-FC15-4035-9A30-29EDFE59303E}" dt="2026-09-03T08:31:03.520" v="11" actId="1076"/>
          <ac:picMkLst>
            <pc:docMk/>
            <pc:sldMk cId="0" sldId="260"/>
            <ac:picMk id="28" creationId="{C8426AC0-C0D1-73F7-A61C-4EE3AEB3E6EF}"/>
          </ac:picMkLst>
        </pc:picChg>
      </pc:sldChg>
      <pc:sldChg chg="addSp modSp new del mod">
        <pc:chgData name="Prahaharshini HDN" userId="05da48dd72767731" providerId="LiveId" clId="{3D3B9BD5-FC15-4035-9A30-29EDFE59303E}" dt="2026-09-03T08:54:16.274" v="29" actId="47"/>
        <pc:sldMkLst>
          <pc:docMk/>
          <pc:sldMk cId="2087522690" sldId="270"/>
        </pc:sldMkLst>
        <pc:spChg chg="add mod">
          <ac:chgData name="Prahaharshini HDN" userId="05da48dd72767731" providerId="LiveId" clId="{3D3B9BD5-FC15-4035-9A30-29EDFE59303E}" dt="2026-09-03T08:52:05.949" v="27" actId="5793"/>
          <ac:spMkLst>
            <pc:docMk/>
            <pc:sldMk cId="2087522690" sldId="270"/>
            <ac:spMk id="5" creationId="{3ABDB3D7-1916-66C2-4251-4409C84120F8}"/>
          </ac:spMkLst>
        </pc:spChg>
        <pc:picChg chg="add mod">
          <ac:chgData name="Prahaharshini HDN" userId="05da48dd72767731" providerId="LiveId" clId="{3D3B9BD5-FC15-4035-9A30-29EDFE59303E}" dt="2026-09-03T08:51:58.139" v="17" actId="1076"/>
          <ac:picMkLst>
            <pc:docMk/>
            <pc:sldMk cId="2087522690" sldId="270"/>
            <ac:picMk id="3" creationId="{EE1984FD-F477-BBF5-55A1-694C87234F33}"/>
          </ac:picMkLst>
        </pc:picChg>
      </pc:sldChg>
      <pc:sldChg chg="addSp modSp new mod ord">
        <pc:chgData name="Prahaharshini HDN" userId="05da48dd72767731" providerId="LiveId" clId="{3D3B9BD5-FC15-4035-9A30-29EDFE59303E}" dt="2026-09-03T08:56:46.801" v="71" actId="1076"/>
        <pc:sldMkLst>
          <pc:docMk/>
          <pc:sldMk cId="2945343691" sldId="271"/>
        </pc:sldMkLst>
        <pc:spChg chg="add mod">
          <ac:chgData name="Prahaharshini HDN" userId="05da48dd72767731" providerId="LiveId" clId="{3D3B9BD5-FC15-4035-9A30-29EDFE59303E}" dt="2026-09-03T08:55:34.862" v="61" actId="1076"/>
          <ac:spMkLst>
            <pc:docMk/>
            <pc:sldMk cId="2945343691" sldId="271"/>
            <ac:spMk id="3" creationId="{36ABDE05-4EE2-A7E0-9E1D-D940DB142619}"/>
          </ac:spMkLst>
        </pc:spChg>
        <pc:picChg chg="add mod">
          <ac:chgData name="Prahaharshini HDN" userId="05da48dd72767731" providerId="LiveId" clId="{3D3B9BD5-FC15-4035-9A30-29EDFE59303E}" dt="2026-09-03T08:56:39.650" v="68" actId="1076"/>
          <ac:picMkLst>
            <pc:docMk/>
            <pc:sldMk cId="2945343691" sldId="271"/>
            <ac:picMk id="5" creationId="{85552F0B-530A-A9FD-0D8C-026124811117}"/>
          </ac:picMkLst>
        </pc:picChg>
        <pc:picChg chg="add mod">
          <ac:chgData name="Prahaharshini HDN" userId="05da48dd72767731" providerId="LiveId" clId="{3D3B9BD5-FC15-4035-9A30-29EDFE59303E}" dt="2026-09-03T08:56:46.801" v="71" actId="1076"/>
          <ac:picMkLst>
            <pc:docMk/>
            <pc:sldMk cId="2945343691" sldId="271"/>
            <ac:picMk id="7" creationId="{87E4E6EC-C6FF-7056-7932-E7A69C74B71A}"/>
          </ac:picMkLst>
        </pc:picChg>
      </pc:sldChg>
      <pc:sldChg chg="addSp modSp new mod">
        <pc:chgData name="Prahaharshini HDN" userId="05da48dd72767731" providerId="LiveId" clId="{3D3B9BD5-FC15-4035-9A30-29EDFE59303E}" dt="2026-09-03T08:57:09.544" v="76" actId="1076"/>
        <pc:sldMkLst>
          <pc:docMk/>
          <pc:sldMk cId="3549335653" sldId="272"/>
        </pc:sldMkLst>
        <pc:picChg chg="add mod">
          <ac:chgData name="Prahaharshini HDN" userId="05da48dd72767731" providerId="LiveId" clId="{3D3B9BD5-FC15-4035-9A30-29EDFE59303E}" dt="2026-09-03T08:57:09.544" v="76" actId="1076"/>
          <ac:picMkLst>
            <pc:docMk/>
            <pc:sldMk cId="3549335653" sldId="272"/>
            <ac:picMk id="3" creationId="{ECE2AF39-CC3A-1E4D-B1C2-55985840AD7D}"/>
          </ac:picMkLst>
        </pc:picChg>
      </pc:sldChg>
      <pc:sldChg chg="addSp modSp new mod">
        <pc:chgData name="Prahaharshini HDN" userId="05da48dd72767731" providerId="LiveId" clId="{3D3B9BD5-FC15-4035-9A30-29EDFE59303E}" dt="2026-09-03T09:01:34.371" v="110" actId="1076"/>
        <pc:sldMkLst>
          <pc:docMk/>
          <pc:sldMk cId="983110855" sldId="273"/>
        </pc:sldMkLst>
        <pc:spChg chg="add mod">
          <ac:chgData name="Prahaharshini HDN" userId="05da48dd72767731" providerId="LiveId" clId="{3D3B9BD5-FC15-4035-9A30-29EDFE59303E}" dt="2026-09-03T09:01:34.371" v="110" actId="1076"/>
          <ac:spMkLst>
            <pc:docMk/>
            <pc:sldMk cId="983110855" sldId="273"/>
            <ac:spMk id="3" creationId="{8493E166-3A55-9074-B9F0-EE732EA61458}"/>
          </ac:spMkLst>
        </pc:spChg>
        <pc:spChg chg="add mod">
          <ac:chgData name="Prahaharshini HDN" userId="05da48dd72767731" providerId="LiveId" clId="{3D3B9BD5-FC15-4035-9A30-29EDFE59303E}" dt="2026-09-03T09:01:28.653" v="109" actId="20577"/>
          <ac:spMkLst>
            <pc:docMk/>
            <pc:sldMk cId="983110855" sldId="273"/>
            <ac:spMk id="5" creationId="{5E846B43-75B0-7381-F917-A2B3D71F13DA}"/>
          </ac:spMkLst>
        </pc:spChg>
      </pc:sldChg>
      <pc:sldChg chg="add del setBg">
        <pc:chgData name="Prahaharshini HDN" userId="05da48dd72767731" providerId="LiveId" clId="{3D3B9BD5-FC15-4035-9A30-29EDFE59303E}" dt="2026-09-03T08:59:48.636" v="78"/>
        <pc:sldMkLst>
          <pc:docMk/>
          <pc:sldMk cId="1608609588" sldId="273"/>
        </pc:sldMkLst>
      </pc:sldChg>
      <pc:sldChg chg="add del setBg">
        <pc:chgData name="Prahaharshini HDN" userId="05da48dd72767731" providerId="LiveId" clId="{3D3B9BD5-FC15-4035-9A30-29EDFE59303E}" dt="2026-09-03T09:00:21.963" v="81"/>
        <pc:sldMkLst>
          <pc:docMk/>
          <pc:sldMk cId="3703755323" sldId="274"/>
        </pc:sldMkLst>
      </pc:sldChg>
      <pc:sldChg chg="addSp modSp new mod">
        <pc:chgData name="Prahaharshini HDN" userId="05da48dd72767731" providerId="LiveId" clId="{3D3B9BD5-FC15-4035-9A30-29EDFE59303E}" dt="2026-09-03T09:04:36.878" v="141" actId="2711"/>
        <pc:sldMkLst>
          <pc:docMk/>
          <pc:sldMk cId="3747541949" sldId="274"/>
        </pc:sldMkLst>
        <pc:spChg chg="add mod">
          <ac:chgData name="Prahaharshini HDN" userId="05da48dd72767731" providerId="LiveId" clId="{3D3B9BD5-FC15-4035-9A30-29EDFE59303E}" dt="2026-09-03T09:04:36.878" v="141" actId="2711"/>
          <ac:spMkLst>
            <pc:docMk/>
            <pc:sldMk cId="3747541949" sldId="274"/>
            <ac:spMk id="4" creationId="{AFBA4568-755C-641F-56B1-EAF7A0FE370A}"/>
          </ac:spMkLst>
        </pc:spChg>
        <pc:graphicFrameChg chg="add mod modGraphic">
          <ac:chgData name="Prahaharshini HDN" userId="05da48dd72767731" providerId="LiveId" clId="{3D3B9BD5-FC15-4035-9A30-29EDFE59303E}" dt="2026-09-03T09:04:08.189" v="115" actId="1076"/>
          <ac:graphicFrameMkLst>
            <pc:docMk/>
            <pc:sldMk cId="3747541949" sldId="274"/>
            <ac:graphicFrameMk id="2" creationId="{3AC5B14F-28AD-6209-7175-A1416F3B2726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06340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4E04F4-ED98-4664-AC1C-C2FE5283B45B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63063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61F56-3618-6B94-C5CE-219CC6F0E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82BFC9-BF9D-3C80-E55B-FF8F01DEF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8090F-DEAF-0C8F-14F9-2CA7BB48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4298A3-A81E-4E11-97AF-34F0DA0D34B0}" type="datetimeFigureOut">
              <a:rPr lang="en-IN" smtClean="0"/>
              <a:t>03-09-2026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6697C-D231-18CC-FBB3-0A50399AC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A41711-4913-44C5-4412-C0FDAB6E2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1BD61F-9A79-475F-9347-BAC0C8499A7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006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AAE18CE4-4820-A7A3-A728-32C24C9364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84526" y="4198044"/>
            <a:ext cx="4407474" cy="3089651"/>
          </a:xfrm>
        </p:spPr>
        <p:txBody>
          <a:bodyPr>
            <a:noAutofit/>
          </a:bodyPr>
          <a:lstStyle/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l"/>
            <a:r>
              <a:rPr lang="en-US" sz="18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PRESENTED  BY:</a:t>
            </a:r>
          </a:p>
          <a:p>
            <a:pPr algn="l"/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HDN PRAHARSHINI (192424085)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K.DEEKSHA SREE(192424097)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 JEEVITHA(192424257)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P.HITHAISHI(192425196)</a:t>
            </a:r>
          </a:p>
          <a:p>
            <a:pPr algn="just"/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53C1D6-6104-3184-588B-32DF37885DA3}"/>
              </a:ext>
            </a:extLst>
          </p:cNvPr>
          <p:cNvSpPr txBox="1"/>
          <p:nvPr/>
        </p:nvSpPr>
        <p:spPr>
          <a:xfrm>
            <a:off x="478205" y="5034983"/>
            <a:ext cx="35806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r>
              <a:rPr lang="en-US" sz="2000" b="1" dirty="0">
                <a:solidFill>
                  <a:schemeClr val="bg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DR.T.KUMARAGURUBARAN</a:t>
            </a:r>
            <a:endParaRPr lang="en-US" sz="2000" b="1" dirty="0">
              <a:solidFill>
                <a:schemeClr val="bg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3B7915-E40F-E1A5-7FA6-041870F82BF0}"/>
              </a:ext>
            </a:extLst>
          </p:cNvPr>
          <p:cNvSpPr txBox="1"/>
          <p:nvPr/>
        </p:nvSpPr>
        <p:spPr>
          <a:xfrm>
            <a:off x="2500561" y="2521855"/>
            <a:ext cx="877361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DSA0306-NATURAL LANGUAGE PROCESSING </a:t>
            </a:r>
          </a:p>
        </p:txBody>
      </p:sp>
      <p:pic>
        <p:nvPicPr>
          <p:cNvPr id="9" name="图片">
            <a:extLst>
              <a:ext uri="{FF2B5EF4-FFF2-40B4-BE49-F238E27FC236}">
                <a16:creationId xmlns:a16="http://schemas.microsoft.com/office/drawing/2014/main" id="{AE260CDB-450A-BD21-3644-7354C5AE9A2D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830981" y="345127"/>
            <a:ext cx="8523509" cy="1154353"/>
          </a:xfrm>
          <a:prstGeom prst="rect">
            <a:avLst/>
          </a:prstGeom>
          <a:noFill/>
          <a:ln w="12700" cap="flat" cmpd="sng">
            <a:noFill/>
            <a:prstDash val="solid"/>
            <a:miter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01A6BB-8A92-B8A8-1171-CA8C6A656DDE}"/>
              </a:ext>
            </a:extLst>
          </p:cNvPr>
          <p:cNvSpPr txBox="1"/>
          <p:nvPr/>
        </p:nvSpPr>
        <p:spPr>
          <a:xfrm>
            <a:off x="326570" y="1943792"/>
            <a:ext cx="118654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b="1" dirty="0"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AI-BASED VOICE COMPLAINT MANAGEMENT SYSTEM  USING NATURAL LANGUAGE PROCESSING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9261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766560" cy="4846320"/>
          </a:xfrm>
          <a:prstGeom prst="roundRect">
            <a:avLst>
              <a:gd name="adj" fmla="val 150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9AA3C7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6172200" cy="4297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complaint systems rely on manual reading, categorization, and routing — slow and inconsistent.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often prefer speaking over typing, especially for urgent or emotional issues.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captures spoken complaints, converts them to text, and applies NLP to understand intent, urgency, and sentiment.</a:t>
            </a:r>
            <a:endParaRPr lang="en-US" sz="14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450" dirty="0">
                <a:solidFill>
                  <a:srgbClr val="2227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are automatically classified, prioritized by detected emotion, and routed to the correct department.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589520" y="1234440"/>
            <a:ext cx="4023360" cy="4846320"/>
          </a:xfrm>
          <a:prstGeom prst="roundRect">
            <a:avLst>
              <a:gd name="adj" fmla="val 1818"/>
            </a:avLst>
          </a:prstGeom>
          <a:solidFill>
            <a:srgbClr val="1B1F4B"/>
          </a:solidFill>
          <a:ln/>
        </p:spPr>
      </p:sp>
      <p:sp>
        <p:nvSpPr>
          <p:cNvPr id="6" name="Shape 4"/>
          <p:cNvSpPr/>
          <p:nvPr/>
        </p:nvSpPr>
        <p:spPr>
          <a:xfrm>
            <a:off x="8915400" y="1737360"/>
            <a:ext cx="1371600" cy="1371600"/>
          </a:xfrm>
          <a:prstGeom prst="ellipse">
            <a:avLst/>
          </a:prstGeom>
          <a:solidFill>
            <a:srgbClr val="2A2F66"/>
          </a:solidFill>
          <a:ln/>
        </p:spPr>
      </p:sp>
      <p:pic>
        <p:nvPicPr>
          <p:cNvPr id="7" name="Image 0" descr="/home/claude/voice_ppt/icons/robot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4010" y="2045970"/>
            <a:ext cx="754380" cy="7543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863840" y="338328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Text → Meaning → Action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863840" y="4206240"/>
            <a:ext cx="3474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777240" cy="7772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4" name="Image 0" descr="/home/claude/voice_ppt/icons/mic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4959" y="1592199"/>
            <a:ext cx="427482" cy="42748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39903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Voice Complaints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691640" y="176479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spoken complaints and convert them accurately into text.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2651760"/>
            <a:ext cx="777240" cy="7772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8" name="Image 1" descr="/home/claude/voice_ppt/icons/brain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959" y="2826639"/>
            <a:ext cx="427482" cy="42748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91640" y="263347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Intent with NLP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691640" y="29992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complaint text to extract category, keywords, and context.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40080" y="3886200"/>
            <a:ext cx="777240" cy="7772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2" name="Image 2" descr="/home/claude/voice_ppt/icons/heart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959" y="4061079"/>
            <a:ext cx="427482" cy="42748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691640" y="386791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Emotion &amp; Urgency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691640" y="42336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caller emotion to assign a fair, data-driven priority level.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640080" y="5120640"/>
            <a:ext cx="777240" cy="77724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16" name="Image 3" descr="/home/claude/voice_ppt/icons/rout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959" y="5295519"/>
            <a:ext cx="427482" cy="42748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91640" y="5102352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Routing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691640" y="54681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structured reports and forward them to the right department instantly.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00C2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complaint handling does not scale — critical issues get delayed, misrouted, or lost in the queue.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242A63"/>
          </a:solidFill>
          <a:ln/>
        </p:spPr>
      </p:sp>
      <p:sp>
        <p:nvSpPr>
          <p:cNvPr id="5" name="Shape 3"/>
          <p:cNvSpPr/>
          <p:nvPr/>
        </p:nvSpPr>
        <p:spPr>
          <a:xfrm>
            <a:off x="1463040" y="2286000"/>
            <a:ext cx="822960" cy="822960"/>
          </a:xfrm>
          <a:prstGeom prst="ellipse">
            <a:avLst/>
          </a:prstGeom>
          <a:solidFill>
            <a:srgbClr val="323870"/>
          </a:solidFill>
          <a:ln/>
        </p:spPr>
      </p:sp>
      <p:pic>
        <p:nvPicPr>
          <p:cNvPr id="6" name="Image 0" descr="/home/claude/voice_ppt/icons/clipboard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8206" y="2471166"/>
            <a:ext cx="452628" cy="4526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8862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must read or listen to every complaint before it can be categorized.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242A63"/>
          </a:solidFill>
          <a:ln/>
        </p:spPr>
      </p:sp>
      <p:sp>
        <p:nvSpPr>
          <p:cNvPr id="10" name="Shape 7"/>
          <p:cNvSpPr/>
          <p:nvPr/>
        </p:nvSpPr>
        <p:spPr>
          <a:xfrm>
            <a:off x="4343400" y="2286000"/>
            <a:ext cx="822960" cy="822960"/>
          </a:xfrm>
          <a:prstGeom prst="ellipse">
            <a:avLst/>
          </a:prstGeom>
          <a:solidFill>
            <a:srgbClr val="323870"/>
          </a:solidFill>
          <a:ln/>
        </p:spPr>
      </p:sp>
      <p:pic>
        <p:nvPicPr>
          <p:cNvPr id="11" name="Image 1" descr="/home/claude/voice_ppt/icons/alert_cy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8566" y="2471166"/>
            <a:ext cx="452628" cy="4526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Priority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611880" y="38862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Urgent, emotionally distressed complaints aren't flagged fast enough.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242A63"/>
          </a:solidFill>
          <a:ln/>
        </p:spPr>
      </p:sp>
      <p:sp>
        <p:nvSpPr>
          <p:cNvPr id="15" name="Shape 11"/>
          <p:cNvSpPr/>
          <p:nvPr/>
        </p:nvSpPr>
        <p:spPr>
          <a:xfrm>
            <a:off x="7223760" y="2286000"/>
            <a:ext cx="822960" cy="822960"/>
          </a:xfrm>
          <a:prstGeom prst="ellipse">
            <a:avLst/>
          </a:prstGeom>
          <a:solidFill>
            <a:srgbClr val="323870"/>
          </a:solidFill>
          <a:ln/>
        </p:spPr>
      </p:sp>
      <p:pic>
        <p:nvPicPr>
          <p:cNvPr id="16" name="Image 2" descr="/home/claude/voice_ppt/icons/building_cya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8926" y="2471166"/>
            <a:ext cx="452628" cy="4526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Errors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6492240" y="38862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 are often sent to the wrong department, causing rework.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965960"/>
            <a:ext cx="2651760" cy="3931920"/>
          </a:xfrm>
          <a:prstGeom prst="roundRect">
            <a:avLst>
              <a:gd name="adj" fmla="val 2759"/>
            </a:avLst>
          </a:prstGeom>
          <a:solidFill>
            <a:srgbClr val="242A63"/>
          </a:solidFill>
          <a:ln/>
        </p:spPr>
      </p:sp>
      <p:sp>
        <p:nvSpPr>
          <p:cNvPr id="20" name="Shape 15"/>
          <p:cNvSpPr/>
          <p:nvPr/>
        </p:nvSpPr>
        <p:spPr>
          <a:xfrm>
            <a:off x="10104120" y="2286000"/>
            <a:ext cx="822960" cy="822960"/>
          </a:xfrm>
          <a:prstGeom prst="ellipse">
            <a:avLst/>
          </a:prstGeom>
          <a:solidFill>
            <a:srgbClr val="323870"/>
          </a:solidFill>
          <a:ln/>
        </p:spPr>
      </p:sp>
      <p:pic>
        <p:nvPicPr>
          <p:cNvPr id="21" name="Image 3" descr="/home/claude/voice_ppt/icons/wave_cya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9286" y="2471166"/>
            <a:ext cx="452628" cy="4526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2918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Voice Support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9372600" y="3886200"/>
            <a:ext cx="2286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systems require typed input, excluding users who prefer speaking.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AC5B14F-28AD-6209-7175-A1416F3B272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0283764"/>
              </p:ext>
            </p:extLst>
          </p:nvPr>
        </p:nvGraphicFramePr>
        <p:xfrm>
          <a:off x="1058779" y="1419726"/>
          <a:ext cx="9103896" cy="48935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5974">
                  <a:extLst>
                    <a:ext uri="{9D8B030D-6E8A-4147-A177-3AD203B41FA5}">
                      <a16:colId xmlns:a16="http://schemas.microsoft.com/office/drawing/2014/main" val="3631678754"/>
                    </a:ext>
                  </a:extLst>
                </a:gridCol>
                <a:gridCol w="2275974">
                  <a:extLst>
                    <a:ext uri="{9D8B030D-6E8A-4147-A177-3AD203B41FA5}">
                      <a16:colId xmlns:a16="http://schemas.microsoft.com/office/drawing/2014/main" val="2044705887"/>
                    </a:ext>
                  </a:extLst>
                </a:gridCol>
                <a:gridCol w="2275974">
                  <a:extLst>
                    <a:ext uri="{9D8B030D-6E8A-4147-A177-3AD203B41FA5}">
                      <a16:colId xmlns:a16="http://schemas.microsoft.com/office/drawing/2014/main" val="928319080"/>
                    </a:ext>
                  </a:extLst>
                </a:gridCol>
                <a:gridCol w="2275974">
                  <a:extLst>
                    <a:ext uri="{9D8B030D-6E8A-4147-A177-3AD203B41FA5}">
                      <a16:colId xmlns:a16="http://schemas.microsoft.com/office/drawing/2014/main" val="1051052400"/>
                    </a:ext>
                  </a:extLst>
                </a:gridCol>
              </a:tblGrid>
              <a:tr h="30585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S.No.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Author &amp; Year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Method / Technology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Key Finding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038339772"/>
                  </a:ext>
                </a:extLst>
              </a:tr>
              <a:tr h="5352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1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Singh et al. (2022)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NLP, Sentiment &amp; Emotion Analysis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Improved automatic complaint identification.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3528922268"/>
                  </a:ext>
                </a:extLst>
              </a:tr>
              <a:tr h="764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2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Singh &amp; Saha (2023)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Graph Attention Network (GAT)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Improved complaint classification in code-mixed text.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2482403229"/>
                  </a:ext>
                </a:extLst>
              </a:tr>
              <a:tr h="764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3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Flores Poma (2023)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NLP &amp; Machine Learning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Identified effective preprocessing and classification techniques.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4018165095"/>
                  </a:ext>
                </a:extLst>
              </a:tr>
              <a:tr h="764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4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Helmy et al. (2024)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Text Classification Algorithms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Compared ML algorithms for customer complaint classification.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717127013"/>
                  </a:ext>
                </a:extLst>
              </a:tr>
              <a:tr h="99401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5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Patil et al. (2025)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NLP, Speech &amp; ML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Combined voice/text complaints with classification and dashboards.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708780729"/>
                  </a:ext>
                </a:extLst>
              </a:tr>
              <a:tr h="764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6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Shree Harini et al. (2026)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Speech-to-Text, NLP &amp; Transformers</a:t>
                      </a:r>
                    </a:p>
                  </a:txBody>
                  <a:tcPr marL="67990" marR="67990" marT="33995" marB="33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Classified voice grievances and automatically routed them to departments.</a:t>
                      </a:r>
                    </a:p>
                  </a:txBody>
                  <a:tcPr marL="67990" marR="67990" marT="33995" marB="33995" anchor="ctr"/>
                </a:tc>
                <a:extLst>
                  <a:ext uri="{0D108BD9-81ED-4DB2-BD59-A6C34878D82A}">
                    <a16:rowId xmlns:a16="http://schemas.microsoft.com/office/drawing/2014/main" val="184434499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FBA4568-755C-641F-56B1-EAF7A0FE370A}"/>
              </a:ext>
            </a:extLst>
          </p:cNvPr>
          <p:cNvSpPr txBox="1"/>
          <p:nvPr/>
        </p:nvSpPr>
        <p:spPr>
          <a:xfrm>
            <a:off x="1138989" y="48164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REVIEW:</a:t>
            </a:r>
          </a:p>
        </p:txBody>
      </p:sp>
    </p:spTree>
    <p:extLst>
      <p:ext uri="{BB962C8B-B14F-4D97-AF65-F5344CB8AC3E}">
        <p14:creationId xmlns:p14="http://schemas.microsoft.com/office/powerpoint/2010/main" val="37475419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217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941832" y="3291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6" name="Text 19"/>
          <p:cNvSpPr/>
          <p:nvPr/>
        </p:nvSpPr>
        <p:spPr>
          <a:xfrm>
            <a:off x="9464040" y="3291840"/>
            <a:ext cx="1783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945636" y="5230368"/>
            <a:ext cx="4297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C8426AC0-C0D1-73F7-A61C-4EE3AEB3E6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4747" y="864482"/>
            <a:ext cx="8790833" cy="586055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2">
            <a:extLst>
              <a:ext uri="{FF2B5EF4-FFF2-40B4-BE49-F238E27FC236}">
                <a16:creationId xmlns:a16="http://schemas.microsoft.com/office/drawing/2014/main" id="{62E8541F-BBFC-CA5A-E31D-AEC0B9D525E9}"/>
              </a:ext>
            </a:extLst>
          </p:cNvPr>
          <p:cNvSpPr/>
          <p:nvPr/>
        </p:nvSpPr>
        <p:spPr>
          <a:xfrm>
            <a:off x="876701" y="741980"/>
            <a:ext cx="685800" cy="6858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5" name="Image 0" descr="/home/claude/voice_ppt/icons/mic_cyan.png">
            <a:extLst>
              <a:ext uri="{FF2B5EF4-FFF2-40B4-BE49-F238E27FC236}">
                <a16:creationId xmlns:a16="http://schemas.microsoft.com/office/drawing/2014/main" id="{56476E67-5E9C-69C6-10F4-53841739C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776" y="896285"/>
            <a:ext cx="377190" cy="377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9F2E95E-79C8-5AD9-DAE5-E3A5BE5EBAD9}"/>
              </a:ext>
            </a:extLst>
          </p:cNvPr>
          <p:cNvSpPr txBox="1"/>
          <p:nvPr/>
        </p:nvSpPr>
        <p:spPr>
          <a:xfrm>
            <a:off x="1844841" y="392382"/>
            <a:ext cx="840606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VOICE INPUT AND SPEECH-TO-TEXT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5CACFB8-DCF9-C0CD-A640-6143C3D06BF3}"/>
              </a:ext>
            </a:extLst>
          </p:cNvPr>
          <p:cNvSpPr txBox="1"/>
          <p:nvPr/>
        </p:nvSpPr>
        <p:spPr>
          <a:xfrm>
            <a:off x="1712495" y="1000488"/>
            <a:ext cx="9044539" cy="55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Algorithm/Technique: Automatic Speech Recognition (ASR)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Voice Input: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user provides a complaint by speaking through a microphone. The system captures the user's speech as an audio signal.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Processing: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captured audio is processed to reduce unwanted noise and identify the portions containing actual speech.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Important characteristics of the speech signal are extracted. Techniques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MFCC (Mel-Frequency Cepstral Coefficients)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may be used in traditional speech-recognition systems.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Recognition: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Speech Recognition (ASR)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 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speech and identifies the spoken words.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Conversion: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recognized speech is converted into written text. For example,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lift suddenly stopped"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the text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lift suddenly stopped."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to Module 2: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generated text is passed to the NLP processing module for further analysis and classification.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Algorithm/Technique Used: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ASR / Speech-to-Text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human voice into text that the computer can process.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61271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6">
            <a:extLst>
              <a:ext uri="{FF2B5EF4-FFF2-40B4-BE49-F238E27FC236}">
                <a16:creationId xmlns:a16="http://schemas.microsoft.com/office/drawing/2014/main" id="{69AA6BC1-4569-4961-11F4-DEAA0E04A005}"/>
              </a:ext>
            </a:extLst>
          </p:cNvPr>
          <p:cNvSpPr/>
          <p:nvPr/>
        </p:nvSpPr>
        <p:spPr>
          <a:xfrm>
            <a:off x="745958" y="636872"/>
            <a:ext cx="685800" cy="6858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5" name="Image 1" descr="/home/claude/voice_ppt/icons/brain_cyan.png">
            <a:extLst>
              <a:ext uri="{FF2B5EF4-FFF2-40B4-BE49-F238E27FC236}">
                <a16:creationId xmlns:a16="http://schemas.microsoft.com/office/drawing/2014/main" id="{8486A6D0-4059-FCEF-D6DB-6EEA7CD4FE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263" y="791177"/>
            <a:ext cx="377190" cy="377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8FF55A3-8767-2DCD-8003-713AB5F76119}"/>
              </a:ext>
            </a:extLst>
          </p:cNvPr>
          <p:cNvSpPr txBox="1"/>
          <p:nvPr/>
        </p:nvSpPr>
        <p:spPr>
          <a:xfrm>
            <a:off x="1371600" y="406039"/>
            <a:ext cx="101305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NLP TEXT PROCESSING AND FEATURE EXTRACTION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A46938-7A25-C129-104D-4BAAA36056EB}"/>
              </a:ext>
            </a:extLst>
          </p:cNvPr>
          <p:cNvSpPr txBox="1"/>
          <p:nvPr/>
        </p:nvSpPr>
        <p:spPr>
          <a:xfrm>
            <a:off x="1371600" y="979772"/>
            <a:ext cx="9809748" cy="55474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Algorithms/Techniques: Normalization, Tokenization, Stop-Word Handling, Lemmatization and TF-IDF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text is converted into a consistent format by changing case, removing unnecessary punctuation and extra spaces, and standardizing the text.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complaint is divided into individual words or tokens. For example,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"lift suddenly stopped"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becomes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lift, suddenly, stopped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Stop-Word Handling: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Common words that provide little classification information may be removed, while important negation words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"not"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should be retained.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Lemmatization: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Different forms of words are converted into their meaningful base forms. For example,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stopped → stop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→ work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 Extraction: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(Term Frequency-Inverse Document Frequency)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converts the processed text into numerical feature values based on the importance of words in the complaint and across the dataset.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 to Module 3: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final TF-IDF numerical feature vector is passed to the machine-learning classifier for predicting the complaint category.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Algorithm/Technique Used: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 Preprocessing + TF-IDF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raw human language into clean numerical features that the ML model can understand.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57836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0">
            <a:extLst>
              <a:ext uri="{FF2B5EF4-FFF2-40B4-BE49-F238E27FC236}">
                <a16:creationId xmlns:a16="http://schemas.microsoft.com/office/drawing/2014/main" id="{DC0E9978-E385-534F-9867-C5C5304303A8}"/>
              </a:ext>
            </a:extLst>
          </p:cNvPr>
          <p:cNvSpPr/>
          <p:nvPr/>
        </p:nvSpPr>
        <p:spPr>
          <a:xfrm>
            <a:off x="777240" y="764406"/>
            <a:ext cx="685800" cy="6858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5" name="Image 2" descr="/home/claude/voice_ppt/icons/heart_cyan.png">
            <a:extLst>
              <a:ext uri="{FF2B5EF4-FFF2-40B4-BE49-F238E27FC236}">
                <a16:creationId xmlns:a16="http://schemas.microsoft.com/office/drawing/2014/main" id="{2E32B6D2-C080-BF14-3976-DAC6CE7871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1545" y="918711"/>
            <a:ext cx="377190" cy="377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C9D0EE-F236-96C2-0B59-6745CEB29BAF}"/>
              </a:ext>
            </a:extLst>
          </p:cNvPr>
          <p:cNvSpPr txBox="1"/>
          <p:nvPr/>
        </p:nvSpPr>
        <p:spPr>
          <a:xfrm>
            <a:off x="2221832" y="564351"/>
            <a:ext cx="906379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AI-BASED COMPLAINT CLASSIFICATION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DB95E6-17C0-BF72-46D6-CF3B27D126C5}"/>
              </a:ext>
            </a:extLst>
          </p:cNvPr>
          <p:cNvSpPr txBox="1"/>
          <p:nvPr/>
        </p:nvSpPr>
        <p:spPr>
          <a:xfrm>
            <a:off x="1500739" y="1183545"/>
            <a:ext cx="9914021" cy="44909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 Multinomial Naive Bayes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Dataset: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is trained using a 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labeled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complaints dataset containing different complaints and their corresponding categories, such as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Lift, Network, Water, Power, Food and Hostel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Input: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processed complaint from Module 2 is represented as numerical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TF-IDF features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given to the Naive Bayes classifier.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Calculation: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Naive Bayes calculates the probability of the complaint belonging to each available category using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Bayes' theorem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 Prediction: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model compares the probabilities and selects the category with the highest probability. For example, </a:t>
            </a:r>
            <a:r>
              <a:rPr lang="en-IN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"The elevator suddenly stopped"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classified as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Detection: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can use predefined rules to identify the urgency of a complaint. Words such as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stuck, danger or emergency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result in a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priority.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module produces the predicted 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category/intent, confidence score and priority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are passed to Module 4 for routing and storage.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Used: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Multinomial Naive Bayes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Predicts the complaint category using machine learning.</a:t>
            </a:r>
            <a:endParaRPr lang="en-I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Formula: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P(C∣X)∝P(C)</a:t>
            </a:r>
            <a:r>
              <a:rPr lang="en-IN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=1∏n​P(xi​∣C)</a:t>
            </a:r>
          </a:p>
        </p:txBody>
      </p:sp>
    </p:spTree>
    <p:extLst>
      <p:ext uri="{BB962C8B-B14F-4D97-AF65-F5344CB8AC3E}">
        <p14:creationId xmlns:p14="http://schemas.microsoft.com/office/powerpoint/2010/main" val="30080455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4">
            <a:extLst>
              <a:ext uri="{FF2B5EF4-FFF2-40B4-BE49-F238E27FC236}">
                <a16:creationId xmlns:a16="http://schemas.microsoft.com/office/drawing/2014/main" id="{F6ADE334-A6AF-3529-D08B-6D642F013536}"/>
              </a:ext>
            </a:extLst>
          </p:cNvPr>
          <p:cNvSpPr/>
          <p:nvPr/>
        </p:nvSpPr>
        <p:spPr>
          <a:xfrm>
            <a:off x="635668" y="477654"/>
            <a:ext cx="685800" cy="685800"/>
          </a:xfrm>
          <a:prstGeom prst="ellipse">
            <a:avLst/>
          </a:prstGeom>
          <a:solidFill>
            <a:srgbClr val="1B1F4B"/>
          </a:solidFill>
          <a:ln/>
        </p:spPr>
      </p:sp>
      <p:pic>
        <p:nvPicPr>
          <p:cNvPr id="5" name="Image 3" descr="/home/claude/voice_ppt/icons/route_cyan.png">
            <a:extLst>
              <a:ext uri="{FF2B5EF4-FFF2-40B4-BE49-F238E27FC236}">
                <a16:creationId xmlns:a16="http://schemas.microsoft.com/office/drawing/2014/main" id="{38646491-71BB-268C-29C4-AD1A7A260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973" y="560513"/>
            <a:ext cx="377190" cy="3771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B5B22F-258E-1836-3A7D-2471A339656F}"/>
              </a:ext>
            </a:extLst>
          </p:cNvPr>
          <p:cNvSpPr txBox="1"/>
          <p:nvPr/>
        </p:nvSpPr>
        <p:spPr>
          <a:xfrm>
            <a:off x="1321468" y="341487"/>
            <a:ext cx="107261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COMPLAINT ROUTING, REPORT GENERATION AND DATABASE</a:t>
            </a:r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986451-C14F-17F5-79D6-066B3E3055FB}"/>
              </a:ext>
            </a:extLst>
          </p:cNvPr>
          <p:cNvSpPr txBox="1"/>
          <p:nvPr/>
        </p:nvSpPr>
        <p:spPr>
          <a:xfrm>
            <a:off x="1167163" y="1037679"/>
            <a:ext cx="10178716" cy="49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Algorithms/Techniques: Rule-Based Routing + CRUD Operations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Complaint Routing: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predicted category is mapped to the appropriate department. For example,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Lift → Maintenance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→ IT Department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 → Electrical Department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 Generation: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combines the complaint details, category, priority, confidence, department and date/time to create a structured complaint record.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Storage: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complaint record is stored in a database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SQLite/MySQL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table such as complaints.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Create, Read, Update and Delete (CRUD)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operations are used to add complaints, view complaints, update their status and remove records when required.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Tracking: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administrator can track the complaint through different stages such as </a:t>
            </a: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 → In Progress → Resolved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Dashboard: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stored complaints are displayed to the administrator so that the responsible department can view, manage and resolve the complaints.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Algorithms/Techniques Used: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Rule-Based Routing + CRUD + Database Management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Routes the complaint to the correct department, stores the complaint and allows administrators to track its resolution.</a:t>
            </a:r>
            <a:endParaRPr lang="en-I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0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ABDE05-4EE2-A7E0-9E1D-D940DB142619}"/>
              </a:ext>
            </a:extLst>
          </p:cNvPr>
          <p:cNvSpPr txBox="1"/>
          <p:nvPr/>
        </p:nvSpPr>
        <p:spPr>
          <a:xfrm>
            <a:off x="657727" y="33987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</a:p>
          <a:p>
            <a:endParaRPr 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552F0B-530A-A9FD-0D8C-0261248111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631" y="693821"/>
            <a:ext cx="10002253" cy="33632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7E4E6EC-C6FF-7056-7932-E7A69C74B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26" y="4154233"/>
            <a:ext cx="10419347" cy="2363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436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E2AF39-CC3A-1E4D-B1C2-55985840A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916" y="791276"/>
            <a:ext cx="10748210" cy="5414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93356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DFA9A7-C191-1DB9-E996-8E757CE350DB}"/>
              </a:ext>
            </a:extLst>
          </p:cNvPr>
          <p:cNvSpPr txBox="1"/>
          <p:nvPr/>
        </p:nvSpPr>
        <p:spPr>
          <a:xfrm>
            <a:off x="938463" y="2238234"/>
            <a:ext cx="1031507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be extended to support 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video translation and dubbing.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support 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more Indian and international languages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wider accessibility.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use 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AI models to improve translation accuracy and preserve context.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provide 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voice choices, including different genders, accents, and speaking styles.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can be deployed as a </a:t>
            </a:r>
            <a:r>
              <a:rPr lang="en-US" sz="200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cloud-based platform </a:t>
            </a:r>
            <a:r>
              <a:rPr lang="en-US" sz="20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 users can process videos from anywhere without depending on their local computer.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AB2A9C-6E3D-991A-1654-F5639CBC84B1}"/>
              </a:ext>
            </a:extLst>
          </p:cNvPr>
          <p:cNvSpPr txBox="1"/>
          <p:nvPr/>
        </p:nvSpPr>
        <p:spPr>
          <a:xfrm>
            <a:off x="2005263" y="1154577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</p:spTree>
    <p:extLst>
      <p:ext uri="{BB962C8B-B14F-4D97-AF65-F5344CB8AC3E}">
        <p14:creationId xmlns:p14="http://schemas.microsoft.com/office/powerpoint/2010/main" val="35758041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502920" cy="502920"/>
          </a:xfrm>
          <a:prstGeom prst="ellipse">
            <a:avLst/>
          </a:prstGeom>
          <a:solidFill>
            <a:srgbClr val="2A2F66"/>
          </a:solidFill>
          <a:ln/>
        </p:spPr>
      </p:sp>
      <p:pic>
        <p:nvPicPr>
          <p:cNvPr id="4" name="Image 0" descr="/home/claude/voice_ppt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1563624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4475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unstructured spoken complaints into structured, actionable data automatically.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2A2F66"/>
          </a:solidFill>
          <a:ln/>
        </p:spPr>
      </p:sp>
      <p:pic>
        <p:nvPicPr>
          <p:cNvPr id="7" name="Image 1" descr="/home/claude/voice_ppt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2569464"/>
            <a:ext cx="301752" cy="3017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245059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Emotion-aware prioritization ensures urgent, distressed complaints are handled first.</a:t>
            </a:r>
            <a:endParaRPr lang="en-US" sz="1450" dirty="0"/>
          </a:p>
        </p:txBody>
      </p:sp>
      <p:sp>
        <p:nvSpPr>
          <p:cNvPr id="9" name="Shape 5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2A2F66"/>
          </a:solidFill>
          <a:ln/>
        </p:spPr>
      </p:sp>
      <p:pic>
        <p:nvPicPr>
          <p:cNvPr id="10" name="Image 2" descr="/home/claude/voice_ppt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75304"/>
            <a:ext cx="301752" cy="30175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371600" y="345643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department routing reduces manual effort and turnaround time.</a:t>
            </a:r>
            <a:endParaRPr lang="en-US" sz="1450" dirty="0"/>
          </a:p>
        </p:txBody>
      </p:sp>
      <p:sp>
        <p:nvSpPr>
          <p:cNvPr id="12" name="Shape 7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2A2F66"/>
          </a:solidFill>
          <a:ln/>
        </p:spPr>
      </p:sp>
      <p:pic>
        <p:nvPicPr>
          <p:cNvPr id="13" name="Image 3" descr="/home/claude/voice_ppt/icons/check_cy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4581144"/>
            <a:ext cx="301752" cy="30175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371600" y="4462272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D6E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NLP pipeline can be extended with multilingual and real-time dashboards in future work.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6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493E166-3A55-9074-B9F0-EE732EA61458}"/>
              </a:ext>
            </a:extLst>
          </p:cNvPr>
          <p:cNvSpPr txBox="1"/>
          <p:nvPr/>
        </p:nvSpPr>
        <p:spPr>
          <a:xfrm>
            <a:off x="786063" y="1507814"/>
            <a:ext cx="10619873" cy="4901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Bird, S., Klein, E., &amp; Loper, E. (2009).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Processing with Python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O’Reilly Media.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Manning, C. D., Raghavan, P., &amp; Schütze, H. (2008).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Information Retrieval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Cambridge University Press.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Pedregosa, F., et al. (2011). “Scikit-learn: Machine Learning in Python.”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Machine Learning Research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12, 2825–2830.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Rennie, J. D. M., Shih, L., Teevan, J., &amp; Karger, D. R. (2003). “Tackling the Poor Assumptions of Naive Bayes Text Classifiers.”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ICML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616–623.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McCallum, A., &amp; Nigam, K. (1998). “A Comparison of Event Models for Naive Bayes Text Classification.”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AAAI-98 Workshop on Learning for Text Categorization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41–48.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Jurafsky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D., &amp; Martin, J. H.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and Language Processing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Reference text for speech recognition, NLP and language-processing concepts.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Nothman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J., Qin, H., &amp; Yurchak, R. (2018). “Stop Word Lists in Free Open-source Software Packages.”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Proceedings of the Workshop for NLP Open Source Software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Google Cloud.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Speech-to-Text Documentation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Reference for speech recognition and conversion of audio into text.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Rasa.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Understanding and Intent Classification Documentation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Reference for intent/category classification and confidence-based predictions.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Scikit-learn Developers. </a:t>
            </a:r>
            <a:r>
              <a:rPr lang="en-IN" sz="1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and TF-IDF Documentation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Reference for TF-IDF vectorization and text feature extraction.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846B43-75B0-7381-F917-A2B3D71F13DA}"/>
              </a:ext>
            </a:extLst>
          </p:cNvPr>
          <p:cNvSpPr txBox="1"/>
          <p:nvPr/>
        </p:nvSpPr>
        <p:spPr>
          <a:xfrm>
            <a:off x="1130969" y="738318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</p:spTree>
    <p:extLst>
      <p:ext uri="{BB962C8B-B14F-4D97-AF65-F5344CB8AC3E}">
        <p14:creationId xmlns:p14="http://schemas.microsoft.com/office/powerpoint/2010/main" val="9831108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1F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48652" y="2645344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0" y="51206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1654</Words>
  <Application>Microsoft Office PowerPoint</Application>
  <PresentationFormat>Widescreen</PresentationFormat>
  <Paragraphs>158</Paragraphs>
  <Slides>16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Prahaharshini HDN</cp:lastModifiedBy>
  <cp:revision>6</cp:revision>
  <dcterms:created xsi:type="dcterms:W3CDTF">2026-08-06T04:41:16Z</dcterms:created>
  <dcterms:modified xsi:type="dcterms:W3CDTF">2026-09-03T09:04:38Z</dcterms:modified>
</cp:coreProperties>
</file>